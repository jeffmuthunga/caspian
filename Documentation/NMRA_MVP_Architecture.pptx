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73152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146304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219456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" y="292608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" y="365760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" y="438912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" y="5120640"/>
            <a:ext cx="9144000" cy="2743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Prototype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Architecture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medicines regulatory data sharing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Ontology Layer + RAG AI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828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3749040"/>
            <a:ext cx="1828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1828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828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4251960"/>
            <a:ext cx="1828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251960"/>
            <a:ext cx="1828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37160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41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medicines in Africa are substandard or falsified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37160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241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5 die annually from fake antimalarials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743200" cy="137160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0241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assessing the same dossier independently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487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data exists — it is siloed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22860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077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CC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907792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ban in Country A — Country B has no idea, still imports from same manufacturer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2860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383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CC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signal in Kenya too weak to detect alone — Tanzania + Uganda see the same signal, nobody pools 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58768"/>
            <a:ext cx="22860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58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CC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858768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dossier reviewed 15× across continent — 24 months per country — supply gap filled by fakes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34256"/>
            <a:ext cx="22860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342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CC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334256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Recalled batch crosses border before alert reaches neighbouring NMRA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Architecture — Full Picture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468880" cy="39319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2468880" cy="384048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CC"/>
                </a:solidFill>
              </a:rPr>
              <a:t>NMRA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231136" cy="65836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8988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353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2103120"/>
            <a:ext cx="2231136" cy="65836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Backend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56032" y="2907792"/>
            <a:ext cx="2231136" cy="65836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9923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2962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(A)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56032" y="374904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ADRs · Inspections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Results · Import Permits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633472" y="2468880"/>
            <a:ext cx="594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624328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publishes →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246120" y="777240"/>
            <a:ext cx="2651760" cy="3931920"/>
          </a:xfrm>
          <a:prstGeom prst="rect">
            <a:avLst/>
          </a:prstGeom>
          <a:solidFill>
            <a:srgbClr val="0F2044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46120" y="77724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4612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Ontology + AI Service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364992" y="1298448"/>
            <a:ext cx="2414016" cy="56692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716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2219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64992" y="2011680"/>
            <a:ext cx="2414016" cy="56692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0848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22192" y="2066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Logic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364992" y="2724912"/>
            <a:ext cx="2414016" cy="56692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79806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22192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Search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3364992" y="3438144"/>
            <a:ext cx="2414016" cy="56692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511296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22192" y="3493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+ Embed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3364992" y="374904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objects · Cross-org links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Markings · Vector embeddings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916168" y="2468880"/>
            <a:ext cx="594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5916168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← publishes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6537960" y="777240"/>
            <a:ext cx="2468880" cy="39319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537960" y="777240"/>
            <a:ext cx="2468880" cy="384048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537960" y="777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NMRA B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656832" y="1298448"/>
            <a:ext cx="2231136" cy="65836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1389888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50608" y="1353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6656832" y="2103120"/>
            <a:ext cx="2231136" cy="65836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2194560"/>
            <a:ext cx="320040" cy="32004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150608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Backend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6656832" y="2907792"/>
            <a:ext cx="2231136" cy="65836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2999232"/>
            <a:ext cx="320040" cy="32004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150608" y="2962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(B)</a:t>
            </a:r>
            <a:endParaRPr lang="en-US" sz="1100" dirty="0"/>
          </a:p>
        </p:txBody>
      </p:sp>
      <p:sp>
        <p:nvSpPr>
          <p:cNvPr id="49" name="Text 37"/>
          <p:cNvSpPr/>
          <p:nvPr/>
        </p:nvSpPr>
        <p:spPr>
          <a:xfrm>
            <a:off x="6656832" y="374904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ADRs · Inspections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Results · Import Permits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How Information Moves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1887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57200" cy="11887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CC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952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stores its own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2070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NMRA writes products, ADRs, inspections into their private Postgres DB via Laravel. No other party has access.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1887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57200" cy="11887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229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9512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publishes a projection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9512" y="12070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calls POST /ontology/publish — sending only the allowed fields (excludes cost, internal notes). Python service stores this in the shared Ontology DB.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194560"/>
            <a:ext cx="4206240" cy="11887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94560"/>
            <a:ext cx="457200" cy="11887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1945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8952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embeds and indexes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" y="25786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object is chunked into text, embedded via Ollama nomic-embed-text, and stored in pgvector. The object is now semantically searchable.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06240" cy="11887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457200" cy="11887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945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CC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39512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link is created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25786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NMRA A's Product and NMRA B's ADRReport refer to the same real-world product, a LinkType object is created in the Ontology DB connecting them.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566160"/>
            <a:ext cx="4206240" cy="11887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566160"/>
            <a:ext cx="457200" cy="11887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5661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8952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queries via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" y="3950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types a question. Laravel calls POST /ai/query with nmra_context=NMRA_A. Python retrieves relevant chunks — enforcing markings — and sends to Ollama LLM.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66160"/>
            <a:ext cx="457200" cy="11887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661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39512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with citations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answer citing object IDs (e.g. [Product PRD-001] [ADR-441]). Laravel renders these as clickable links back to source records.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+ AI Service — Internal Detail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474720" cy="39319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34747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Endpoints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54864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/ontology/publish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527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pushes objects into shared space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54864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64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CC"/>
                </a:solidFill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/ontology/objects/{id}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one object (enforces markings)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54864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67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CC"/>
                </a:solidFill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/ontology/linked/{id}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532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cross-org linked objects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770632"/>
            <a:ext cx="54864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70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/ontology/link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035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cross-org link type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273552"/>
            <a:ext cx="54864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/ai/query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5387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 — returns cited answer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776472"/>
            <a:ext cx="548640" cy="27432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3776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/ai/ingest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and index new objects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777240"/>
            <a:ext cx="4937760" cy="393192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31920" y="777240"/>
            <a:ext cx="4937760" cy="3657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777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CC"/>
                </a:solidFill>
              </a:rPr>
              <a:t>Ontology Database Schema (Postgres + pgvector)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41648" y="1261872"/>
            <a:ext cx="4718304" cy="74980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41648" y="1261872"/>
            <a:ext cx="4718304" cy="246888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126187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published_objects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1517904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source_nmra · object_type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60520" y="167335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source_id · properties (JSONB)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60520" y="182880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marking · created_at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41648" y="2130552"/>
            <a:ext cx="4718304" cy="74980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41648" y="2130552"/>
            <a:ext cx="4718304" cy="246888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213055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object_links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60520" y="2386584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from_object_id · to_object_id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60520" y="254203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link_type · created_by_nmra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60520" y="26974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41648" y="2999232"/>
            <a:ext cx="4718304" cy="74980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41648" y="2999232"/>
            <a:ext cx="4718304" cy="246888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0" y="299923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object_markings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60520" y="3255264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object_id · nmra_id · can_read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160520" y="341071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can_write · property_exclusions[]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041648" y="3867912"/>
            <a:ext cx="4718304" cy="749808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041648" y="3867912"/>
            <a:ext cx="4718304" cy="246888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386791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60520" y="4123944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object_id · chunk_text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60520" y="4279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vector(768)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60520" y="443484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(JSONB)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Structure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77240"/>
            <a:ext cx="4114800" cy="406908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nmra-prototype/  (monorepo)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1887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nmra-a/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353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frontend/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1517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└─ pages/index.tsx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backend/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18470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└─ routes/api.php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" y="2011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nmra-b/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2176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frontend/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23408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backend/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0040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ai-ontology-service/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2670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main.py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2834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ontology.py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2999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retrieve.py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31638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generate.py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33284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db/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34930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nmra_a_schema.sql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3657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nmra_b_schema.sql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3822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ontology_schema.sql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" y="3986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docker-compose.yml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0040" y="41513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README.md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777240"/>
            <a:ext cx="4343400" cy="406908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0" y="777240"/>
            <a:ext cx="434340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 — one command to run all</a:t>
            </a:r>
            <a:endParaRPr lang="en-US" sz="10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804672"/>
            <a:ext cx="320040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4663440" y="1234440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663440" y="1234440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63440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postgres-a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053328" y="1234440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053328" y="12344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675120" y="1234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A database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63440" y="1636776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663440" y="1636776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63440" y="1636776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postgres-b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053328" y="1636776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053328" y="16367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:5433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675120" y="1636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B database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663440" y="2039112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663440" y="2039112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663440" y="2039112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postgres-onto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053328" y="2039112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053328" y="203911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:5434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675120" y="2039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+ vectors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663440" y="2441448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4663440" y="2441448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663440" y="2441448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laravel-a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6053328" y="2441448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053328" y="24414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675120" y="2441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A API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4663440" y="2843784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4663440" y="2843784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663440" y="2843784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laravel-b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6053328" y="2843784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053328" y="284378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6675120" y="28437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B API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4663440" y="3246120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4663440" y="3246120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663440" y="3246120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ai-service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6053328" y="3246120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053328" y="32461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6675120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4663440" y="3648456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4"/>
          <p:cNvSpPr/>
          <p:nvPr/>
        </p:nvSpPr>
        <p:spPr>
          <a:xfrm>
            <a:off x="4663440" y="3648456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663440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nextjs-a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6053328" y="3648456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053328" y="36484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6675120" y="3648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A frontend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4663440" y="4050792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4663440" y="4050792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663440" y="4050792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nextjs-b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6053328" y="4050792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053328" y="40507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6675120" y="40507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B frontend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4663440" y="4453128"/>
            <a:ext cx="4160520" cy="329184"/>
          </a:xfrm>
          <a:prstGeom prst="rect">
            <a:avLst/>
          </a:prstGeom>
          <a:solidFill>
            <a:srgbClr val="1A356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0" name="Shape 76"/>
          <p:cNvSpPr/>
          <p:nvPr/>
        </p:nvSpPr>
        <p:spPr>
          <a:xfrm>
            <a:off x="4663440" y="4453128"/>
            <a:ext cx="13716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4663440" y="4453128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6053328" y="4453128"/>
            <a:ext cx="594360" cy="329184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6053328" y="44531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:11434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6675120" y="44531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host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— What to Do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788920" cy="192024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2788920" cy="34747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43584"/>
            <a:ext cx="201168" cy="20116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252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monorepo created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201168" cy="20116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with 3 Postgres DBs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201168" cy="20116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568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SQL schemas written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201168" cy="20116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3225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running — llama3.1:8b + nomic-embed-text pulled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72968" y="804672"/>
            <a:ext cx="2788920" cy="192024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804672"/>
            <a:ext cx="2788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8046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AI 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124358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38728" y="12252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skeleton — /health endpoint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160934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38728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function using Ollama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64408" y="197510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38728" y="19568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schema + store function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4408" y="234086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38728" y="23225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script — loads seed data + embeds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804672"/>
            <a:ext cx="2788920" cy="192024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804672"/>
            <a:ext cx="2788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8046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NMRA A Backend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54496" y="124358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28816" y="12252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 — products + ADR routes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54496" y="160934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28816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/ontology/publish integration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54496" y="197510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28816" y="19568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/ai/query integration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54496" y="234086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28816" y="23225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with Laravel Sanctum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2907792"/>
            <a:ext cx="2788920" cy="192024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82880" y="2907792"/>
            <a:ext cx="2788920" cy="34747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29077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NMRA A Frontend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34670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346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33284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 — product list view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71246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36941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report view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07822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" y="40599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chat interface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444398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44256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rendered inline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172968" y="2907792"/>
            <a:ext cx="2788920" cy="192024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172968" y="2907792"/>
            <a:ext cx="2788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46120" y="29077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Mirror + Link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64408" y="334670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64408" y="3346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538728" y="33284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Phase 3+4 for NMRA B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64408" y="371246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64408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538728" y="36941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link creation between A and B objects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64408" y="407822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64408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538728" y="40599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query demonstration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64408" y="4443984"/>
            <a:ext cx="201168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64408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✓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538728" y="44256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scenario: GMP ban → border alert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Scenario — What the Prototype Must Show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1005840"/>
          </a:xfrm>
          <a:prstGeom prst="rect">
            <a:avLst/>
          </a:prstGeom>
          <a:solidFill>
            <a:srgbClr val="0F2044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GMP-banned manufacturer still exporting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A (Kenya) bans manufacturer PharmaCo after GMP inspection failure. NMRA B (Tanzania) is about to approve an import permit from the same manufacturer. Without the shared ontology — they have no way to know.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4206240" cy="82296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20240"/>
            <a:ext cx="1005840" cy="8229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A / Kenya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07592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files GMP failure for PharmaCo Ltd in Laravel A. Status → BANNED.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206240" cy="82296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20240"/>
            <a:ext cx="1005840" cy="8229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88152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publishes updated Manufacturer object to Ontology Service with new gmp_status = banned.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4206240" cy="82296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1005840" cy="8229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0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Service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07592" y="2971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Re-embeds the updated chunk. Cross-org link to NMRA B's pending import permits is traversed.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206240" cy="82296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80360"/>
            <a:ext cx="1005840" cy="8229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80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NMRA B / Tanzania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88152" y="2971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asks: 'Should we approve import permit for PharmaCo Ltd?' AI query fires.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840480"/>
            <a:ext cx="4206240" cy="82296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840480"/>
            <a:ext cx="1005840" cy="8229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07592" y="39319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Manufacturer object + GMP inspection finding from NMRA A's published objects. Surfaces ban to LLM context.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840480"/>
            <a:ext cx="4206240" cy="822960"/>
          </a:xfrm>
          <a:prstGeom prst="rect">
            <a:avLst/>
          </a:prstGeom>
          <a:solidFill>
            <a:srgbClr val="1320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840480"/>
            <a:ext cx="1005840" cy="822960"/>
          </a:xfrm>
          <a:prstGeom prst="rect">
            <a:avLst/>
          </a:prstGeom>
          <a:solidFill>
            <a:srgbClr val="1A35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88152" y="39319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receives: 'PharmaCo Ltd was issued a GMP ban by NMRA Kenya on [date] — Inspection ID INS-441. Recommend hold on import permit.' [CITED]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NMRA Prototype — MVP Architecture</dc:title>
  <dc:subject>PptxGenJS Presentation</dc:subject>
  <dc:creator>PptxGenJS</dc:creator>
  <cp:lastModifiedBy>PptxGenJS</cp:lastModifiedBy>
  <cp:revision>1</cp:revision>
  <dcterms:created xsi:type="dcterms:W3CDTF">2026-06-03T20:02:40Z</dcterms:created>
  <dcterms:modified xsi:type="dcterms:W3CDTF">2026-06-03T20:02:40Z</dcterms:modified>
</cp:coreProperties>
</file>